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Hero image: generated internally (artifacts_image_gen)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repo modules: tools/growth_runner.py, tools/places_scout.py, tools/growth_db.py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workflow: docs/GROWTH_SOURCING_PLAN_PLACES.md, tools/ingest_outcomes.py, tools/verify_g20.py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workflow: docs/GROWTH_SOURCING_PLAN_PLACES.md, tools/ingest_outcomes.py, tools/verify_g20.py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workflow: docs/GROWTH_SOURCING_PLAN_PLACES.md, tools/ingest_outcomes.py, tools/verify_g20.py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modules: tools/growth_runner.py, tools/places_scout.py, tools/verify_smoke_test.py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tools/ingest_outcomes.py, tools/verify_g20.py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setup steps: docs/PROJECT_STATE.md, docs/FACTORY_CHECKPOINT.md (assumed complete)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tools/growth_runner.py, tools/verify_smoke_test.py, tools/verify_g20.py, tools/ingest_outcomes.py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 structure described in docs + tools modules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Next steps inferred from current G1.9/G2.0 scope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None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in_a_futuristic_and_vibrant.png">    </p:cNvPr>
          <p:cNvPicPr>
            <a:picLocks noChangeAspect="1"/>
          </p:cNvPicPr>
          <p:nvPr/>
        </p:nvPicPr>
        <p:blipFill>
          <a:blip r:embed="rId1"/>
          <a:srcRect l="0" r="0"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965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X‑Agent Factory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Sourcing (G1.9) + LeadOps Loop (G2.0) — visual map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8680" y="3337560"/>
            <a:ext cx="2194560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Z Workflow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46120" y="3337560"/>
            <a:ext cx="2560320" cy="384048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Pseudo‑animated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now (in human terms)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G1.9 → G2.0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794760" cy="52120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0" y="1234440"/>
            <a:ext cx="3794760" cy="52120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0" y="1234440"/>
            <a:ext cx="3794760" cy="52120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Safe data tap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 (New) + Geocoding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restricted + quotas + budget alerts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1828800" cy="347472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Cost‑aware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554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Nationwide sourcing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05740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Packs (WHERE) + Vertical Packs (WHAT)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batches of searches → SQLite → exports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3200400"/>
            <a:ext cx="2148840" cy="347472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01000" y="1554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LeadOps loop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01000" y="205740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leads → outreach outcomes → ingest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+ suppression + weekly rollups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01000" y="3200400"/>
            <a:ext cx="2560320" cy="347472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653796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you can generate, track, and learn from leads without re-contacting dead ends.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(Step 1): Find prospects safely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Z (pseudo‑animated)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1460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searchText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47288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Cache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0168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TTL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+ 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61704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44584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44584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getPlace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+ Suppress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+ weekly stats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7288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0168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outcomes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0168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ingest_outcomes.py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37376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7376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Calls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61704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44584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44584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07608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14816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1393424" y="2194560"/>
            <a:ext cx="0" cy="27432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00400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07608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14816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1667744" y="3040380"/>
            <a:ext cx="0" cy="-141732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67744" y="1623060"/>
            <a:ext cx="-11301984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40080" y="3611880"/>
            <a:ext cx="2971800" cy="32918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G1.9: Nationwide sourcing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3611880"/>
            <a:ext cx="2834640" cy="32918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G2.0: LeadOps loop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709160"/>
            <a:ext cx="10972800" cy="1645920"/>
          </a:xfrm>
          <a:prstGeom prst="rect">
            <a:avLst/>
          </a:prstGeom>
          <a:solidFill>
            <a:srgbClr val="0B1328"/>
          </a:solidFill>
          <a:ln w="12700">
            <a:solidFill>
              <a:srgbClr val="2A3555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config picks WHERE + WHAT.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searchText finds candidates.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dedupes + caches.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(Step 2): Enrich + export for outreach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Z (pseudo‑animated)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searchText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47288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Cache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0168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TTL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+ 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61704" y="1188720"/>
            <a:ext cx="251460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44584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44584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getPlace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+ Suppress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+ weekly stats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7288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0168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outcomes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0168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ingest_outcomes.py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37376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7376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Calls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61704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44584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44584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07608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14816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1393424" y="2194560"/>
            <a:ext cx="0" cy="27432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00400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07608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14816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1667744" y="3040380"/>
            <a:ext cx="0" cy="-141732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67744" y="1623060"/>
            <a:ext cx="-11301984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40080" y="3611880"/>
            <a:ext cx="2971800" cy="32918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G1.9: Nationwide sourcing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3611880"/>
            <a:ext cx="2834640" cy="32918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G2.0: LeadOps loop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709160"/>
            <a:ext cx="10972800" cy="1645920"/>
          </a:xfrm>
          <a:prstGeom prst="rect">
            <a:avLst/>
          </a:prstGeom>
          <a:solidFill>
            <a:srgbClr val="0B1328"/>
          </a:solidFill>
          <a:ln w="12700">
            <a:solidFill>
              <a:srgbClr val="2A3555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top candidates.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getPlace only when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CSV/JSONL.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(Step 3): Learn + suppress + iterate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Z (pseudo‑animated)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searchText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47288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Cache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0168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TTL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54496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7376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+ priority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61704" y="118872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44584" y="1353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44584" y="16642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getPlace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2A355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+ Suppress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+ weekly stats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7288" y="2606040"/>
            <a:ext cx="251460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30168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outcomes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0168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ingest_outcomes.py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37376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7376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Calls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61704" y="2606040"/>
            <a:ext cx="2514600" cy="868680"/>
          </a:xfrm>
          <a:prstGeom prst="roundRect">
            <a:avLst/>
          </a:prstGeom>
          <a:solidFill>
            <a:srgbClr val="111A3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44584" y="2770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44584" y="308152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07608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14816" y="162306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1393424" y="2194560"/>
            <a:ext cx="0" cy="27432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00400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07608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14816" y="3040380"/>
            <a:ext cx="201168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1667744" y="3040380"/>
            <a:ext cx="0" cy="-141732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67744" y="1623060"/>
            <a:ext cx="-11301984" cy="0"/>
          </a:xfrm>
          <a:prstGeom prst="line">
            <a:avLst/>
          </a:prstGeom>
          <a:noFill/>
          <a:ln w="25400">
            <a:solidFill>
              <a:srgbClr val="2A355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40080" y="3611880"/>
            <a:ext cx="2971800" cy="32918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G1.9: Nationwide sourcing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3611880"/>
            <a:ext cx="2834640" cy="32918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G2.0: LeadOps loop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4709160"/>
            <a:ext cx="10972800" cy="1645920"/>
          </a:xfrm>
          <a:prstGeom prst="rect">
            <a:avLst/>
          </a:prstGeom>
          <a:solidFill>
            <a:srgbClr val="0B1328"/>
          </a:solidFill>
          <a:ln w="12700">
            <a:solidFill>
              <a:srgbClr val="2A3555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outcomes (won/dead/dnc/meeting).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updates status + suppression.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stats guide next runs.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G1.9 (Nationwide Sourcing)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Queries → SQLite → Exports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38328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43400" y="1097280"/>
            <a:ext cx="356616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0" y="1097280"/>
            <a:ext cx="3291840" cy="448056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Pack (WHERE)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Pack (WHAT)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config (caps + masks)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2103120" cy="32918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YAML‑driven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queries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searchText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masks + retries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governors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377440" cy="329184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58200" y="1325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+ Output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58200" y="17830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(dedupe + audit)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Exports: CSV + JSONL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run_summary.json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verify_smoke_test.py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3154680"/>
            <a:ext cx="2194560" cy="32918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794760"/>
            <a:ext cx="731520" cy="0"/>
          </a:xfrm>
          <a:prstGeom prst="line">
            <a:avLst/>
          </a:prstGeom>
          <a:noFill/>
          <a:ln w="381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3794760"/>
            <a:ext cx="502920" cy="0"/>
          </a:xfrm>
          <a:prstGeom prst="line">
            <a:avLst/>
          </a:prstGeom>
          <a:noFill/>
          <a:ln w="38100">
            <a:solidFill>
              <a:srgbClr val="2A355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5715000"/>
            <a:ext cx="10881360" cy="868680"/>
          </a:xfrm>
          <a:prstGeom prst="rect">
            <a:avLst/>
          </a:prstGeom>
          <a:solidFill>
            <a:srgbClr val="0B1328"/>
          </a:solidFill>
          <a:ln w="12700">
            <a:solidFill>
              <a:srgbClr val="2A3555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is achieved by running many small regional batches (region_tag) — not one giant “US query”.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G2.0 (LeadOps Loop)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→ Status → Suppression →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766560" y="1555711"/>
            <a:ext cx="283464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720303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2031199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leads.csv/jsonl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16013" y="3875449"/>
            <a:ext cx="283464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98893" y="4040041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98893" y="4350937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calls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6842" y="5131621"/>
            <a:ext cx="283464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79722" y="5296213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79722" y="5607109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events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0524" y="3715683"/>
            <a:ext cx="283464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404" y="3880275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404" y="4191171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ingest_outcomes.py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50840" y="1645719"/>
            <a:ext cx="2834640" cy="868680"/>
          </a:xfrm>
          <a:prstGeom prst="roundRect">
            <a:avLst/>
          </a:prstGeom>
          <a:solidFill>
            <a:srgbClr val="182447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33720" y="1810311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Status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33720" y="2121207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/ dead_end / dnc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21040" y="4800600"/>
            <a:ext cx="3291840" cy="1234440"/>
          </a:xfrm>
          <a:prstGeom prst="rect">
            <a:avLst/>
          </a:prstGeom>
          <a:solidFill>
            <a:srgbClr val="0B1328"/>
          </a:solidFill>
          <a:ln w="12700">
            <a:solidFill>
              <a:srgbClr val="2A3555"/>
            </a:solidFill>
          </a:ln>
        </p:spPr>
        <p:txBody>
          <a:bodyPr wrap="square" lIns="3175" tIns="3175" rIns="3175" bIns="317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rollups answer: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exported / meetings / wins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suppressed (dead/dnc)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to run next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6053328"/>
            <a:ext cx="1828800" cy="310896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verify_g20.py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rails (a.k.a. “don’t set money on fire”)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27080" cy="5440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417320"/>
            <a:ext cx="10058400" cy="676656"/>
          </a:xfrm>
          <a:prstGeom prst="roundRect">
            <a:avLst/>
          </a:prstGeom>
          <a:solidFill>
            <a:srgbClr val="101A33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581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restrictions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Places (New) + Geocoding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258568"/>
            <a:ext cx="10058400" cy="676656"/>
          </a:xfrm>
          <a:prstGeom prst="roundRect">
            <a:avLst/>
          </a:prstGeom>
          <a:solidFill>
            <a:srgbClr val="101A33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44144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Per‑minute &amp; per‑day caps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099816"/>
            <a:ext cx="10058400" cy="676656"/>
          </a:xfrm>
          <a:prstGeom prst="roundRect">
            <a:avLst/>
          </a:prstGeom>
          <a:solidFill>
            <a:srgbClr val="101A33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264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+ alerts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8269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tripwires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941064"/>
            <a:ext cx="10058400" cy="676656"/>
          </a:xfrm>
          <a:prstGeom prst="roundRect">
            <a:avLst/>
          </a:prstGeom>
          <a:solidFill>
            <a:srgbClr val="101A33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105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governors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12394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calls / max exports / stop on error 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4782312"/>
            <a:ext cx="10058400" cy="676656"/>
          </a:xfrm>
          <a:prstGeom prst="roundRect">
            <a:avLst/>
          </a:prstGeom>
          <a:solidFill>
            <a:srgbClr val="101A33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946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49651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only the fields we need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5623560"/>
            <a:ext cx="10058400" cy="676656"/>
          </a:xfrm>
          <a:prstGeom prst="roundRect">
            <a:avLst/>
          </a:prstGeom>
          <a:solidFill>
            <a:srgbClr val="101A33"/>
          </a:solidFill>
          <a:ln w="25400">
            <a:solidFill>
              <a:srgbClr val="EA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5788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5806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pay twice for the same info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run it (Nova-friendly)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to “I get it”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63624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5361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run config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8196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YAML: coverage + vertical + caps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67712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414016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23865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key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2768" y="2670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GMAPS_API_KEY in your 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118104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64408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72768" y="32369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sourcing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72768" y="3520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tools/growth_runner.py --config &lt;yaml&gt;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968496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114800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40873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outputs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72768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growth/exports/&lt;run_id&gt;/leads.csv + run_summary.json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1417320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563624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96328" y="15361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health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96328" y="18196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tools/verify_smoke_test.py (or verify_g20.py)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2267712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414016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96328" y="238658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outcomes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96328" y="2670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tools/ingest_outcomes.py --db ... --file outcomes.csv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3118104"/>
            <a:ext cx="5303520" cy="685800"/>
          </a:xfrm>
          <a:prstGeom prst="roundRect">
            <a:avLst/>
          </a:prstGeom>
          <a:solidFill>
            <a:srgbClr val="0F1933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264408"/>
            <a:ext cx="438912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96328" y="32369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rollups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96328" y="3520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get_weekly_stats() → what to run next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6080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the smoke tests first. If they pass, you’re safe to scale.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files to look at (so you don’t feel cursed)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27080" cy="5440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417320"/>
            <a:ext cx="6035040" cy="4663440"/>
          </a:xfrm>
          <a:prstGeom prst="roundRect">
            <a:avLst/>
          </a:prstGeom>
          <a:solidFill>
            <a:srgbClr val="0B1328"/>
          </a:solidFill>
          <a:ln w="12700">
            <a:solidFill>
              <a:srgbClr val="2A3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00200"/>
            <a:ext cx="56692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coverage/  (WHERE)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vertical/   (WHAT)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runs/run_configs/  (HOW MUCH / LIMITS)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exports/&lt;run_id&gt;/  (OUTPUTS)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db/growth.db  (THE BRAIN)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growth_runner.py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places_scout.py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growth_db.py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ingest_outcomes.py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verify_smoke_test.py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verify_g20.py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1417320"/>
            <a:ext cx="4206240" cy="4663440"/>
          </a:xfrm>
          <a:prstGeom prst="roundRect">
            <a:avLst/>
          </a:prstGeom>
          <a:solidFill>
            <a:srgbClr val="0B1328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6092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60920" y="20116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Packs define coverage + verticals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configs define limits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Runner executes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remembers everything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Verifiers keep you safe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find exports + run_summary, you’re winning.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 (if you want to keep the fun going)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15400" y="182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ideas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27080" cy="5440680"/>
          </a:xfrm>
          <a:prstGeom prst="roundRect">
            <a:avLst/>
          </a:prstGeom>
          <a:solidFill>
            <a:srgbClr val="121A2E"/>
          </a:solidFill>
          <a:ln w="12700">
            <a:solidFill>
              <a:srgbClr val="2A355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4630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G3: Make it operational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scheduled job (weekly runs + auto‑exports)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exports into CRM (HubSpot/Salesforce) with outcome sync back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matching precision (store website_domain + phone_digits)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“quality scoring” from outcomes (learn what converts)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tiny dashboard (runs, costs, wins, suppression rate)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5349240"/>
            <a:ext cx="2743200" cy="38404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D"/>
          </a:solidFill>
          <a:ln w="12700">
            <a:solidFill>
              <a:srgbClr val="0A0F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Breather complete.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run a real batch?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vertical + coverage pack and I’ll help you drive.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4069080"/>
            <a:ext cx="2377440" cy="402336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go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X‑Agent Factory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Workflow visualizations</dc:subject>
  <dc:creator>Nova + Alpha</dc:creator>
  <cp:lastModifiedBy>Nova + Alpha</cp:lastModifiedBy>
  <cp:revision>1</cp:revision>
  <dcterms:created xsi:type="dcterms:W3CDTF">2026-01-22T02:48:13Z</dcterms:created>
  <dcterms:modified xsi:type="dcterms:W3CDTF">2026-01-22T02:48:13Z</dcterms:modified>
</cp:coreProperties>
</file>